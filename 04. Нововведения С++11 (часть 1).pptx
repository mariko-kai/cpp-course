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6" r:id="rId3"/>
    <p:sldId id="319" r:id="rId4"/>
    <p:sldId id="317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271" r:id="rId19"/>
    <p:sldId id="272" r:id="rId20"/>
    <p:sldId id="273" r:id="rId21"/>
    <p:sldId id="274" r:id="rId22"/>
    <p:sldId id="348" r:id="rId23"/>
    <p:sldId id="349" r:id="rId24"/>
    <p:sldId id="350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6" r:id="rId40"/>
    <p:sldId id="277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26"/>
  </p:normalViewPr>
  <p:slideViewPr>
    <p:cSldViewPr snapToGrid="0">
      <p:cViewPr varScale="1">
        <p:scale>
          <a:sx n="121" d="100"/>
          <a:sy n="121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92E5-529B-30D3-AE81-2245EEB8B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FE717-2789-1ADF-789C-BC3631FAF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7001-F57A-720A-D942-66136555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4CEDF-B899-47F1-3D5D-46F82EA6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3B222-B62F-CE47-703C-033E7AD9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8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5D9C-C8EB-5D3F-FBB4-A6FBADCF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6AB6-CD36-8164-6662-959660E6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801A-4B1F-E5AD-91AE-C1E58F49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2B68-1987-0A13-46F4-87036D90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3B5B-C7F5-549E-EF76-D9ECF7CE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542F-9340-B78B-78F5-D583BDCD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F73C-8F15-2D41-7B8C-4F0ECFA4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951A-DF71-44C1-065D-2276C0D4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3297A-24D6-98A6-613A-4BD87A47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0BC0-30A2-AF4A-9F5A-D9F5F792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8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692-9E45-0F2C-9D85-37EDD94C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57A0-2E00-DF70-5BE8-3791F148D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F8B3F-C613-B3AF-D2AA-6C2052341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7C185-DDB2-A536-F5E2-BF24DAB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271C3-F4C7-21C0-ECBE-07CD1BA1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5B6B3-B932-FB0E-EC75-A1F83156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9FAA-A76B-5B3C-91B5-88F07CB4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3C45-0017-BB60-D581-01862464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F695F-BD38-E1FE-B60C-FF3A6CE33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6E78A-40C7-311B-624D-902838ABC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27C1D-0BF2-6544-E0AA-980581A02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2B2D8-3127-24D9-32DD-62466260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EF6D9-DE8E-0C9B-F7B2-5072C43F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C11CE-C685-F3FD-B5C8-01C02BE7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4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8EBC-FA9A-1531-DE4B-325E09B4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788C0-2D4F-2AD3-7956-8A17918A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A1AB5-3364-AEAA-89D0-3454BC57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8AE7-239E-3666-B093-8FB58D4A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55DD1-FDE7-A0A0-F57B-D1C1E8BC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CA79F-E2DF-15E2-EB27-896E71A9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4973-47BE-956D-AFCA-7A3E1269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3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0B97-FABE-536E-1131-1A8B9473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00B7-6174-1F0F-8CF9-03CDB4B90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EFE41-2800-8619-C21F-962FC4558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3439-D29B-7BC8-F11A-43D56B47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8AF4-F5EE-3C6D-1891-1A8B6EFB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3B225-0672-54BA-ADF6-28147D8B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2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197-65AB-1740-F6F9-CA919D7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37A10-BC71-1D05-22FF-036A8B39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AF74C-71CE-74D5-8728-B9B75F35F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B09C-7879-ACDC-8DEC-E9DACDDF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F59B-9BD5-76A3-1083-B5AC75AA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743C0-D63E-B688-E0A5-13387ABA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224D-867D-A18D-8ABB-FF585D05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3086A-E4B4-D311-37AC-C8887D662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FB24C-AC96-33F6-35D0-1D8E13A0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B54A-8F50-E940-2A40-97E7CD17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A62D-57FC-6731-62B6-9D5407D9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693F3-48E6-44F2-4BEC-73BAFAE6C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09CB6-E8F3-493B-D352-C0BD61379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549EF-D742-1B82-7163-4F3D0E1D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E140-9173-0EF5-DE28-E2946C13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52362-F3F1-AA1A-B9CE-9DD8D0BA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6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48814-53FC-C149-E976-D78F11EC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73379-60CC-9A2C-1592-8206CE7A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B4AE-93BB-2C45-4845-7B1F23A71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2871B-4E3E-044D-8666-1C179B294C3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6EF1-39D2-75FC-F3B2-85DD4AED5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D8E9-0436-DCE8-A145-3D899DD9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E0CF0-B38E-2942-8BFE-461943479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ivmai/bdwgc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0EA2-F996-5E5E-D679-B7FFDD42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2D153-5B78-BB5B-6824-6A72FD9E32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С++11</a:t>
            </a:r>
          </a:p>
          <a:p>
            <a:r>
              <a:rPr lang="ru-RU" dirty="0"/>
              <a:t>часть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7569-E6DA-8EEB-8B2F-FA0DF416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1EE2-4A9A-A940-4733-471CD0F5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CB1E-A97F-DBFE-FBDE-4C48269F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С++ управление памятью можно разделить на: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malloc/free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operator new/operator delete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std::allocator</a:t>
            </a:r>
            <a:endParaRPr lang="ru-RU" b="1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Конструкция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 *x = new T()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ru-RU" dirty="0"/>
              <a:t>проводит две операции: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выделяет память</a:t>
            </a:r>
            <a:r>
              <a:rPr lang="en-US" dirty="0"/>
              <a:t> (allocate)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вызывает конструктор</a:t>
            </a:r>
            <a:r>
              <a:rPr lang="en-US" dirty="0"/>
              <a:t> (construct)</a:t>
            </a:r>
          </a:p>
        </p:txBody>
      </p:sp>
    </p:spTree>
    <p:extLst>
      <p:ext uri="{BB962C8B-B14F-4D97-AF65-F5344CB8AC3E}">
        <p14:creationId xmlns:p14="http://schemas.microsoft.com/office/powerpoint/2010/main" val="373081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04DB-39A5-E0B6-2D23-3581E6A9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4431-EF09-37B0-8EE6-52B87329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7356-44A1-93DF-C355-1CF486203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19BB6-62FC-CC4D-15F7-255A7D47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0317"/>
            <a:ext cx="7772400" cy="4201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65DF3-8252-9483-193A-BFF8058D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26" y="2212208"/>
            <a:ext cx="5397500" cy="5207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903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FAB0-1C4D-1704-AF56-446F0DEA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E24B-1919-F6EF-702C-2C3F1EE5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E192-53EF-2617-345A-2FC5436E8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656A3-FCEE-FBF4-9DD1-3F505EEB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7818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4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EC0B-9D6E-4ED1-C825-FA0F0619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6C81-66CA-0FCB-42AE-F3ED08DA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ECDE-0A8B-30A3-751E-F75ED521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85820-B2D8-0BC8-CDC7-6BDE0CE3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2070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0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8F31-0DAE-4ED6-391F-B7D60E8B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AFCE-8D4B-E339-10E1-8C9C733B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66DA-C18E-B1E7-16BC-1E95A280E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Парность форм</a:t>
            </a:r>
            <a:br>
              <a:rPr lang="en-US" dirty="0"/>
            </a:br>
            <a:r>
              <a:rPr lang="ru-RU" dirty="0"/>
              <a:t>Переопределили </a:t>
            </a:r>
            <a:r>
              <a:rPr lang="en-US" dirty="0"/>
              <a:t>operator new </a:t>
            </a:r>
            <a:r>
              <a:rPr lang="ru-RU" dirty="0"/>
              <a:t>→</a:t>
            </a:r>
            <a:r>
              <a:rPr lang="en-US" dirty="0"/>
              <a:t> </a:t>
            </a:r>
            <a:r>
              <a:rPr lang="ru-RU" dirty="0"/>
              <a:t>переопределите и соответствующий </a:t>
            </a:r>
            <a:r>
              <a:rPr lang="en-US" dirty="0"/>
              <a:t>operator delete </a:t>
            </a:r>
            <a:r>
              <a:rPr lang="ru-RU" dirty="0"/>
              <a:t>иначе при исключении в конструкторе компилятор будет искать подходящий </a:t>
            </a:r>
            <a:r>
              <a:rPr lang="en-US" dirty="0"/>
              <a:t>delete </a:t>
            </a:r>
            <a:r>
              <a:rPr lang="ru-RU" dirty="0"/>
              <a:t>для отката</a:t>
            </a:r>
          </a:p>
          <a:p>
            <a:r>
              <a:rPr lang="ru-RU" b="1" dirty="0"/>
              <a:t>Для массивов – отдельные формы</a:t>
            </a:r>
            <a:br>
              <a:rPr lang="en-US" dirty="0"/>
            </a:br>
            <a:r>
              <a:rPr lang="ru-RU" dirty="0"/>
              <a:t>Если используете </a:t>
            </a:r>
            <a:r>
              <a:rPr lang="en-US" dirty="0"/>
              <a:t>new[], </a:t>
            </a:r>
            <a:r>
              <a:rPr lang="ru-RU" dirty="0"/>
              <a:t>нужны </a:t>
            </a:r>
            <a:r>
              <a:rPr lang="en-US" dirty="0"/>
              <a:t>operator new[]/delete[].</a:t>
            </a:r>
          </a:p>
          <a:p>
            <a:r>
              <a:rPr lang="ru-RU" b="1" dirty="0"/>
              <a:t>Исключения и </a:t>
            </a:r>
            <a:r>
              <a:rPr lang="en-US" b="1" dirty="0" err="1"/>
              <a:t>noexcept</a:t>
            </a:r>
            <a:br>
              <a:rPr lang="en-US" dirty="0"/>
            </a:br>
            <a:r>
              <a:rPr lang="en-US" dirty="0"/>
              <a:t>operator new </a:t>
            </a:r>
            <a:r>
              <a:rPr lang="ru-RU" dirty="0"/>
              <a:t>обычно бросает </a:t>
            </a:r>
            <a:r>
              <a:rPr lang="en-US" dirty="0"/>
              <a:t>std::</a:t>
            </a:r>
            <a:r>
              <a:rPr lang="en-US" dirty="0" err="1"/>
              <a:t>bad_alloc</a:t>
            </a:r>
            <a:br>
              <a:rPr lang="en-US" dirty="0"/>
            </a:br>
            <a:r>
              <a:rPr lang="en-US" dirty="0"/>
              <a:t>operator delete </a:t>
            </a:r>
            <a:r>
              <a:rPr lang="ru-RU" dirty="0"/>
              <a:t>должен быть </a:t>
            </a:r>
            <a:r>
              <a:rPr lang="en-US" dirty="0" err="1"/>
              <a:t>noexcept</a:t>
            </a:r>
            <a:endParaRPr lang="en-US" dirty="0"/>
          </a:p>
          <a:p>
            <a:r>
              <a:rPr lang="ru-RU" b="1" dirty="0"/>
              <a:t>Выравнивание</a:t>
            </a:r>
            <a:br>
              <a:rPr lang="en-US" dirty="0"/>
            </a:br>
            <a:r>
              <a:rPr lang="ru-RU" dirty="0"/>
              <a:t>Если в коде встречаются </a:t>
            </a:r>
            <a:r>
              <a:rPr lang="en-US" dirty="0"/>
              <a:t>over-aligned </a:t>
            </a:r>
            <a:r>
              <a:rPr lang="ru-RU" dirty="0"/>
              <a:t>типы, добавляйте </a:t>
            </a:r>
            <a:r>
              <a:rPr lang="en-US" dirty="0"/>
              <a:t>aligned overload’</a:t>
            </a:r>
            <a:r>
              <a:rPr lang="ru-RU" dirty="0"/>
              <a:t>ы.</a:t>
            </a:r>
          </a:p>
        </p:txBody>
      </p:sp>
    </p:spTree>
    <p:extLst>
      <p:ext uri="{BB962C8B-B14F-4D97-AF65-F5344CB8AC3E}">
        <p14:creationId xmlns:p14="http://schemas.microsoft.com/office/powerpoint/2010/main" val="64397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5D3-CD73-6C95-C6CB-95606BFA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8514-7F3D-0BE0-3C8F-51741A7F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00EB-CDD1-042A-3B5C-CEF9FB2F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Сборщик мусора (</a:t>
            </a:r>
            <a:r>
              <a:rPr lang="en-US" b="1" dirty="0"/>
              <a:t>Garbage Collector, GC</a:t>
            </a:r>
            <a:r>
              <a:rPr lang="en-US" dirty="0"/>
              <a:t>) — </a:t>
            </a:r>
            <a:r>
              <a:rPr lang="ru-RU" dirty="0"/>
              <a:t>это механизм, который автоматически находит и освобождает неиспользуемые объекты в памяти.</a:t>
            </a:r>
          </a:p>
          <a:p>
            <a:pPr marL="0" indent="0">
              <a:buNone/>
            </a:pPr>
            <a:r>
              <a:rPr lang="en-US" b="1" dirty="0"/>
              <a:t>Boehm-Demers-Weiser Garbage Collector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>
                <a:hlinkClick r:id="rId2"/>
              </a:rPr>
              <a:t>https://github.com/ivmai/bdwgc/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2BE19-21ED-C4A9-DD6C-4F2B452E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4470400" cy="52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FE9FA5-B5C2-F880-217F-BE908642B7B8}"/>
              </a:ext>
            </a:extLst>
          </p:cNvPr>
          <p:cNvSpPr txBox="1"/>
          <p:nvPr/>
        </p:nvSpPr>
        <p:spPr>
          <a:xfrm>
            <a:off x="2343807" y="5044966"/>
            <a:ext cx="7504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/>
              <a:t>“</a:t>
            </a:r>
            <a:r>
              <a:rPr lang="en-US" dirty="0"/>
              <a:t>Actually, what I said was something like "When (not if) automatic garbage collection becomes part of C++, it will be optional</a:t>
            </a:r>
            <a:r>
              <a:rPr lang="en-US" altLang="en-US" i="1" dirty="0"/>
              <a:t>.</a:t>
            </a:r>
            <a:r>
              <a:rPr lang="en-US" dirty="0"/>
              <a:t> "</a:t>
            </a:r>
            <a:r>
              <a:rPr lang="en-US" altLang="en-US" i="1" dirty="0"/>
              <a:t>”</a:t>
            </a:r>
            <a:br>
              <a:rPr lang="en-US" altLang="en-US" dirty="0"/>
            </a:br>
            <a:r>
              <a:rPr lang="en-US" altLang="en-US" dirty="0"/>
              <a:t>— </a:t>
            </a:r>
            <a:r>
              <a:rPr lang="ru-RU" altLang="en-US" b="1" dirty="0" err="1"/>
              <a:t>Бьёрн</a:t>
            </a:r>
            <a:r>
              <a:rPr lang="ru-RU" altLang="en-US" b="1" dirty="0"/>
              <a:t> Страуструп</a:t>
            </a:r>
            <a:r>
              <a:rPr lang="ru-RU" altLang="en-US" dirty="0"/>
              <a:t>, создатель С++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5095735D-2F9B-6A77-F3FB-89A625ACAE96}"/>
              </a:ext>
            </a:extLst>
          </p:cNvPr>
          <p:cNvSpPr/>
          <p:nvPr/>
        </p:nvSpPr>
        <p:spPr>
          <a:xfrm>
            <a:off x="2259724" y="4981114"/>
            <a:ext cx="84083" cy="10833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2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E7C3-0CDB-7579-63D0-3E6D6C6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7765-E155-9A9D-C6C8-B4D063CB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F26A-FFED-3879-1BC6-DA1B5CDF0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Сборщики мусора:</a:t>
            </a:r>
          </a:p>
          <a:p>
            <a:r>
              <a:rPr lang="ru-RU" b="1" dirty="0"/>
              <a:t>всегда работают медленнее</a:t>
            </a:r>
            <a:r>
              <a:rPr lang="ru-RU" dirty="0"/>
              <a:t>, чем другие техники</a:t>
            </a:r>
            <a:r>
              <a:rPr lang="en-US" dirty="0"/>
              <a:t> </a:t>
            </a:r>
            <a:r>
              <a:rPr lang="ru-RU" dirty="0"/>
              <a:t>управления памятью; порождает неочевидные задержки в произвольных частях программы.</a:t>
            </a:r>
          </a:p>
          <a:p>
            <a:r>
              <a:rPr lang="ru-RU" dirty="0"/>
              <a:t>освобождают память </a:t>
            </a:r>
            <a:r>
              <a:rPr lang="ru-RU" dirty="0" err="1"/>
              <a:t>недетерминированно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 есть </a:t>
            </a:r>
            <a:r>
              <a:rPr lang="ru-RU" b="1" dirty="0"/>
              <a:t>вызов деструкторов становится небезопасным </a:t>
            </a:r>
            <a:r>
              <a:rPr lang="ru-RU" dirty="0"/>
              <a:t>и </a:t>
            </a:r>
            <a:r>
              <a:rPr lang="ru-RU" b="1" dirty="0"/>
              <a:t>управление всеми иными ресурсами</a:t>
            </a:r>
            <a:r>
              <a:rPr lang="ru-RU" dirty="0"/>
              <a:t> (кроме памяти) все еще в ответственности программистов.</a:t>
            </a:r>
          </a:p>
          <a:p>
            <a:r>
              <a:rPr lang="ru-RU" b="1" dirty="0"/>
              <a:t>не избавляют от утечек памяти</a:t>
            </a:r>
            <a:r>
              <a:rPr lang="ru-RU" dirty="0"/>
              <a:t>, если внимательно не следить за уничтожением ссылок на объекты. </a:t>
            </a:r>
          </a:p>
        </p:txBody>
      </p:sp>
    </p:spTree>
    <p:extLst>
      <p:ext uri="{BB962C8B-B14F-4D97-AF65-F5344CB8AC3E}">
        <p14:creationId xmlns:p14="http://schemas.microsoft.com/office/powerpoint/2010/main" val="293210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942B-EF0E-405A-30DD-0318D71D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0CAF-9B54-C225-395A-0F3C4AC5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2A27-D1B3-315D-EE09-763D27AB4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56EE2-575B-0C72-0DBD-323AE8E1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4914"/>
            <a:ext cx="7013028" cy="495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37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0F1C-6844-834B-C2DD-81A1B7D3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992F-1D5D-F514-0E72-858C6931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5B3D-DB50-BF01-D61C-FC2772C7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 std::allocator&lt;T&gt;::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n</a:t>
            </a:r>
            <a:r>
              <a:rPr lang="en-US" dirty="0"/>
              <a:t> </a:t>
            </a:r>
            <a:r>
              <a:rPr lang="ru-RU" dirty="0"/>
              <a:t>число экземпляров </a:t>
            </a:r>
            <a:r>
              <a:rPr lang="en-US" b="1" dirty="0"/>
              <a:t>T</a:t>
            </a:r>
            <a:r>
              <a:rPr lang="en-US" dirty="0"/>
              <a:t>, </a:t>
            </a:r>
            <a:r>
              <a:rPr lang="ru-RU" dirty="0"/>
              <a:t>НЕ байтов</a:t>
            </a:r>
          </a:p>
          <a:p>
            <a:pPr>
              <a:buFont typeface="System Font Regular"/>
              <a:buChar char="-"/>
            </a:pPr>
            <a:r>
              <a:rPr lang="ru-RU" dirty="0"/>
              <a:t>возвращает указатель на область памяти, достаточную</a:t>
            </a:r>
            <a:r>
              <a:rPr lang="en-US" dirty="0"/>
              <a:t> </a:t>
            </a:r>
            <a:br>
              <a:rPr lang="en-US" dirty="0"/>
            </a:br>
            <a:r>
              <a:rPr lang="ru-RU" dirty="0"/>
              <a:t>для хранения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n-US" b="1" dirty="0"/>
              <a:t>* </a:t>
            </a:r>
            <a:r>
              <a:rPr lang="en-US" b="1" dirty="0" err="1"/>
              <a:t>sizeof</a:t>
            </a:r>
            <a:r>
              <a:rPr lang="en-US" b="1" dirty="0"/>
              <a:t>(T) </a:t>
            </a:r>
            <a:r>
              <a:rPr lang="ru-RU" dirty="0"/>
              <a:t>байт</a:t>
            </a:r>
          </a:p>
          <a:p>
            <a:pPr>
              <a:buFont typeface="System Font Regular"/>
              <a:buChar char="-"/>
            </a:pPr>
            <a:r>
              <a:rPr lang="ru-RU" dirty="0"/>
              <a:t>возвращает просто байты памяти, НЕ конструирует</a:t>
            </a:r>
          </a:p>
          <a:p>
            <a:pPr>
              <a:buFont typeface="System Font Regular"/>
              <a:buChar char="-"/>
            </a:pPr>
            <a:r>
              <a:rPr lang="ru-RU" dirty="0"/>
              <a:t>может бросать</a:t>
            </a:r>
            <a:r>
              <a:rPr lang="en-US" dirty="0"/>
              <a:t> </a:t>
            </a:r>
            <a:r>
              <a:rPr lang="ru-RU" dirty="0"/>
              <a:t>исключение (</a:t>
            </a:r>
            <a:r>
              <a:rPr lang="en-US" b="1" dirty="0"/>
              <a:t>std::</a:t>
            </a:r>
            <a:r>
              <a:rPr lang="en-US" b="1" dirty="0" err="1"/>
              <a:t>bad_alloc</a:t>
            </a:r>
            <a:r>
              <a:rPr lang="en-US" dirty="0"/>
              <a:t>)</a:t>
            </a:r>
          </a:p>
          <a:p>
            <a:pPr>
              <a:buFont typeface="System Font Regular"/>
              <a:buChar char="-"/>
            </a:pPr>
            <a:r>
              <a:rPr lang="ru-RU" dirty="0"/>
              <a:t>по умолчанию вызывает </a:t>
            </a:r>
            <a:r>
              <a:rPr lang="ru-RU" b="1" dirty="0"/>
              <a:t>::</a:t>
            </a:r>
            <a:r>
              <a:rPr lang="en-US" b="1" dirty="0"/>
              <a:t>operator new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1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45AE-09C7-C288-3D9C-CFFBB745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FABF-43D9-CE39-3763-1AFAC7B2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6CA3-91EE-C70C-4152-AE341774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std::allocator&lt;T&gt;::deallocate(T*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p</a:t>
            </a:r>
            <a:r>
              <a:rPr lang="en-US" dirty="0"/>
              <a:t> </a:t>
            </a:r>
            <a:r>
              <a:rPr lang="ru-RU" dirty="0"/>
              <a:t>должен получать результат функции </a:t>
            </a:r>
            <a:r>
              <a:rPr lang="en-US" dirty="0"/>
              <a:t>allocate()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p</a:t>
            </a:r>
            <a:r>
              <a:rPr lang="en-US" dirty="0"/>
              <a:t> </a:t>
            </a:r>
            <a:r>
              <a:rPr lang="ru-RU" dirty="0"/>
              <a:t>должен быть набором байт</a:t>
            </a:r>
            <a:r>
              <a:rPr lang="en-US" dirty="0"/>
              <a:t>, </a:t>
            </a:r>
            <a:r>
              <a:rPr lang="ru-RU" dirty="0"/>
              <a:t>уже деконструированным</a:t>
            </a:r>
          </a:p>
          <a:p>
            <a:pPr>
              <a:buFont typeface="System Font Regular"/>
              <a:buChar char="-"/>
            </a:pPr>
            <a:r>
              <a:rPr lang="en-US" b="1" dirty="0"/>
              <a:t>n</a:t>
            </a:r>
            <a:r>
              <a:rPr lang="en-US" dirty="0"/>
              <a:t> </a:t>
            </a:r>
            <a:r>
              <a:rPr lang="ru-RU" dirty="0"/>
              <a:t>должен соответствовать значению </a:t>
            </a:r>
            <a:r>
              <a:rPr lang="en-US" b="1" dirty="0"/>
              <a:t>n</a:t>
            </a:r>
            <a:r>
              <a:rPr lang="en-US" dirty="0"/>
              <a:t>, </a:t>
            </a:r>
            <a:r>
              <a:rPr lang="ru-RU" dirty="0"/>
              <a:t>переданному в функцию </a:t>
            </a:r>
            <a:r>
              <a:rPr lang="en-US" dirty="0"/>
              <a:t>allocate()</a:t>
            </a:r>
          </a:p>
          <a:p>
            <a:pPr>
              <a:buFont typeface="System Font Regular"/>
              <a:buChar char="-"/>
            </a:pPr>
            <a:r>
              <a:rPr lang="ru-RU" dirty="0"/>
              <a:t>по умолчанию вызывает </a:t>
            </a:r>
            <a:r>
              <a:rPr lang="ru-RU" b="1" dirty="0"/>
              <a:t>::</a:t>
            </a:r>
            <a:r>
              <a:rPr lang="en-US" b="1" dirty="0"/>
              <a:t>operator delete(void*)</a:t>
            </a:r>
          </a:p>
          <a:p>
            <a:pPr>
              <a:buFont typeface="System Font Regular"/>
              <a:buChar char="-"/>
            </a:pPr>
            <a:r>
              <a:rPr lang="ru-RU" dirty="0"/>
              <a:t>большинство реализаций разрешают и игнорируют значение </a:t>
            </a:r>
            <a:r>
              <a:rPr lang="en-US" b="1" dirty="0" err="1"/>
              <a:t>nullptr</a:t>
            </a:r>
            <a:r>
              <a:rPr lang="ru-RU" dirty="0"/>
              <a:t> аргумента </a:t>
            </a:r>
            <a:r>
              <a:rPr lang="en-US" b="1" dirty="0"/>
              <a:t>p</a:t>
            </a:r>
            <a:endParaRPr lang="ru-RU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0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F32A-974F-7825-6B9C-F667A67B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AA33-5F9D-A542-5CCA-4DC2272E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95A83C-C94C-BB37-A857-B6F7EC854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74FE10-6238-71FF-C0CA-96DB4162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5842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4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63E5-937B-7D36-B1DC-03623C7E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81C9-7BE0-CE1A-8B1A-A1B550B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842AE-37DE-1D19-8110-D291391F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229755-9C3C-FEC8-E62C-F09D5F68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182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9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DAFA-68EE-D39F-9739-4B4AB989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EE402-F340-B5DF-2811-AA2A4736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797A-7F89-B8EE-700B-0EE18490D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Зачем нужен </a:t>
            </a:r>
            <a:r>
              <a:rPr lang="en-US" b="1" dirty="0"/>
              <a:t>rebind?</a:t>
            </a:r>
          </a:p>
          <a:p>
            <a:pPr marL="0" indent="0">
              <a:buNone/>
            </a:pPr>
            <a:r>
              <a:rPr lang="ru-RU" dirty="0"/>
              <a:t>Не все контейнеры выделяют память под тип </a:t>
            </a:r>
            <a:r>
              <a:rPr lang="en-US" dirty="0"/>
              <a:t>T</a:t>
            </a:r>
            <a:r>
              <a:rPr lang="ru-RU" dirty="0"/>
              <a:t>, например </a:t>
            </a:r>
            <a:r>
              <a:rPr lang="en-US" dirty="0"/>
              <a:t>std::list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template&lt;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U&gt; struct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rebind </a:t>
            </a:r>
            <a:b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typedef allocator&lt;U&gt; other; }</a:t>
            </a:r>
          </a:p>
          <a:p>
            <a:pPr marL="0" indent="0">
              <a:buNone/>
            </a:pPr>
            <a:r>
              <a:rPr lang="ru-RU" dirty="0"/>
              <a:t>Теперь можем выделять память под что-то другое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std::allocator&lt;T&gt; a;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 t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a.allocate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Alloc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&lt;T&gt;::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rebind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&lt;N&gt;::other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N* n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na.allocate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(1);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BFDD-A8E4-B412-A919-0D9EE78F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61D2-8363-AFE9-AD29-561A81E9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0455A-828E-0651-D521-FADC606B8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Наследоваться от </a:t>
            </a:r>
            <a:r>
              <a:rPr lang="en-US" dirty="0"/>
              <a:t>std::allocator </a:t>
            </a:r>
            <a:r>
              <a:rPr lang="ru-RU" dirty="0"/>
              <a:t>можно, но стоит учитывать, что он не был спроектирован для этого. Например: у него нет </a:t>
            </a:r>
            <a:r>
              <a:rPr lang="ru-RU" b="1" dirty="0"/>
              <a:t>виртуального деструктора </a:t>
            </a:r>
            <a:r>
              <a:rPr lang="ru-RU" dirty="0"/>
              <a:t>– то есть могут возникнуть проблемы с </a:t>
            </a:r>
            <a:r>
              <a:rPr lang="ru-RU" dirty="0" err="1"/>
              <a:t>аллокаторами</a:t>
            </a:r>
            <a:r>
              <a:rPr lang="ru-RU" dirty="0"/>
              <a:t> имеющими состояние </a:t>
            </a:r>
            <a:r>
              <a:rPr lang="en-US" dirty="0"/>
              <a:t>(stateful-</a:t>
            </a:r>
            <a:r>
              <a:rPr lang="ru-RU" dirty="0" err="1"/>
              <a:t>аллокаторы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Лучше писать с нуля. </a:t>
            </a:r>
            <a:r>
              <a:rPr lang="en-US" dirty="0"/>
              <a:t>stateful-</a:t>
            </a:r>
            <a:r>
              <a:rPr lang="ru-RU" dirty="0" err="1"/>
              <a:t>аллокаторы</a:t>
            </a:r>
            <a:r>
              <a:rPr lang="ru-RU" dirty="0"/>
              <a:t> поддерживаются в </a:t>
            </a:r>
            <a:r>
              <a:rPr lang="en-US" dirty="0"/>
              <a:t>STL </a:t>
            </a:r>
            <a:r>
              <a:rPr lang="ru-RU" dirty="0"/>
              <a:t>с С++11.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8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2A830-DB4E-BA27-56B4-FB6670CC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0A2A-8AB0-53B8-2F08-2D993BD4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C8453-DB0E-7597-E457-B2E75BB9C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B3D26-9BA1-78F3-068C-B4DF0836F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375"/>
            <a:ext cx="49276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8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E473-E5AB-6D2F-8607-E0984BEA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A520-3819-E70C-ED53-0FAF0EBF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303D-2F37-658E-19BF-295CE38A0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35717-2351-338E-7A1E-77DFD50C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375"/>
            <a:ext cx="56642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1E09-A502-F54B-9F55-DE3FB7F7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16BE-FEB7-5C2F-0938-E5579521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2CC4-2A7E-AFB0-B12F-E9E1C165D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E3EE9-92FF-7D31-BBC8-0A281993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7744"/>
            <a:ext cx="55372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09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D5A3-97FC-4D5C-6F63-21E61A3C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B7D6-9E1A-1CCE-E08D-17EEAC24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7B92-3288-1088-1434-A90E2D68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Resource Acquisition Is Initialization </a:t>
            </a:r>
            <a:r>
              <a:rPr lang="en-US" dirty="0"/>
              <a:t>– </a:t>
            </a:r>
            <a:r>
              <a:rPr lang="ru-RU" dirty="0"/>
              <a:t>это фундаментальная идиома </a:t>
            </a:r>
            <a:r>
              <a:rPr lang="en-US" dirty="0"/>
              <a:t>C++, </a:t>
            </a:r>
            <a:r>
              <a:rPr lang="ru-RU" dirty="0"/>
              <a:t>которая связывает владение ресурсом с временем жизни объекта.</a:t>
            </a:r>
            <a:r>
              <a:rPr lang="ru-RU" b="1" dirty="0"/>
              <a:t> </a:t>
            </a:r>
          </a:p>
          <a:p>
            <a:pPr marL="0" indent="0">
              <a:buNone/>
            </a:pPr>
            <a:r>
              <a:rPr lang="ru-RU" dirty="0"/>
              <a:t>Обретение ресурса должно происходить в конструкторе, а освобождение – в деструкторе.</a:t>
            </a:r>
          </a:p>
          <a:p>
            <a:pPr marL="0" indent="0">
              <a:buNone/>
            </a:pPr>
            <a:r>
              <a:rPr lang="ru-RU" dirty="0"/>
              <a:t>Следование идиоме </a:t>
            </a:r>
            <a:r>
              <a:rPr lang="en-US" dirty="0"/>
              <a:t>RAII </a:t>
            </a:r>
            <a:r>
              <a:rPr lang="ru-RU" dirty="0"/>
              <a:t>гарантирует освобождение ресурсов при: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выходе из области видимости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возврате из функции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исключении</a:t>
            </a:r>
          </a:p>
        </p:txBody>
      </p:sp>
    </p:spTree>
    <p:extLst>
      <p:ext uri="{BB962C8B-B14F-4D97-AF65-F5344CB8AC3E}">
        <p14:creationId xmlns:p14="http://schemas.microsoft.com/office/powerpoint/2010/main" val="1782854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3607-64A4-79D6-FDED-D733D22B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4D55-CEE5-917F-7425-A3615C04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1702-C729-D4A0-560A-98B914CE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FD6D1-FA66-4639-931E-7E3E3653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0644"/>
            <a:ext cx="70485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2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69D9-375B-55F1-87B0-D8751F53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624D-8671-36D3-9B86-22A6A69D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</a:t>
            </a:r>
            <a:r>
              <a:rPr lang="en-US" dirty="0"/>
              <a:t>RAII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E482-A4F0-3173-E8ED-8550B00A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1AFE5-DD5C-D106-6FBD-CF0177CFB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7844"/>
            <a:ext cx="69342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90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C158-7C44-D1F0-73C0-3025B0E8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80C7-B3F8-62D8-F567-53B7C429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2936-B87C-D87B-97CA-711426A2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make_unique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&lt;int&gt;(42);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cs typeface="Consolas" panose="020B0609020204030204" pitchFamily="49" charset="0"/>
              </a:rPr>
              <a:t>Свойства:</a:t>
            </a:r>
          </a:p>
          <a:p>
            <a:r>
              <a:rPr lang="ru-RU" dirty="0">
                <a:cs typeface="Consolas" panose="020B0609020204030204" pitchFamily="49" charset="0"/>
              </a:rPr>
              <a:t>нельзя копировать</a:t>
            </a:r>
          </a:p>
          <a:p>
            <a:r>
              <a:rPr lang="ru-RU" dirty="0">
                <a:cs typeface="Consolas" panose="020B0609020204030204" pitchFamily="49" charset="0"/>
              </a:rPr>
              <a:t>можно перемещать</a:t>
            </a:r>
          </a:p>
          <a:p>
            <a:r>
              <a:rPr lang="ru-RU" dirty="0">
                <a:cs typeface="Consolas" panose="020B0609020204030204" pitchFamily="49" charset="0"/>
              </a:rPr>
              <a:t>минимальные накладные</a:t>
            </a:r>
          </a:p>
          <a:p>
            <a:pPr marL="0" indent="0">
              <a:buNone/>
            </a:pPr>
            <a:endParaRPr lang="en-US" dirty="0">
              <a:cs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D437F-9C9A-039B-3365-FCB6B7E29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79076"/>
            <a:ext cx="45466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2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F026-9CC1-6005-652B-DC739722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D1E2-87E0-06D8-C1DF-09E8615D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1E98-6BC9-812D-6A91-E3E546B50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make_shared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&lt;int&gt;(10);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cs typeface="Consolas" panose="020B0609020204030204" pitchFamily="49" charset="0"/>
              </a:rPr>
              <a:t>Свойства:</a:t>
            </a:r>
          </a:p>
          <a:p>
            <a:r>
              <a:rPr lang="ru-RU" dirty="0">
                <a:cs typeface="Consolas" panose="020B0609020204030204" pitchFamily="49" charset="0"/>
              </a:rPr>
              <a:t>можно копировать</a:t>
            </a:r>
          </a:p>
          <a:p>
            <a:r>
              <a:rPr lang="ru-RU" dirty="0">
                <a:cs typeface="Consolas" panose="020B0609020204030204" pitchFamily="49" charset="0"/>
              </a:rPr>
              <a:t>можно перемещать</a:t>
            </a:r>
          </a:p>
          <a:p>
            <a:r>
              <a:rPr lang="ru-RU" dirty="0">
                <a:cs typeface="Consolas" panose="020B0609020204030204" pitchFamily="49" charset="0"/>
              </a:rPr>
              <a:t>хранит счетчик ссылок</a:t>
            </a:r>
            <a:endParaRPr lang="en-US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63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16CD-BF42-6766-8AB7-F0F26DF6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1F12-320F-A190-14A5-B028DE60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ресурсами: умные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D9144-7F16-DC37-4572-1C60478B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weak_ptr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p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some_shared_ptr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shared_ptr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&lt;int&gt;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p.lock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Свойства:</a:t>
            </a:r>
            <a:endParaRPr lang="en-US" dirty="0"/>
          </a:p>
          <a:p>
            <a:r>
              <a:rPr lang="ru-RU" dirty="0"/>
              <a:t>можно копировать</a:t>
            </a:r>
          </a:p>
          <a:p>
            <a:r>
              <a:rPr lang="ru-RU" dirty="0"/>
              <a:t>можно перемещать</a:t>
            </a:r>
          </a:p>
          <a:p>
            <a:r>
              <a:rPr lang="ru-RU" dirty="0"/>
              <a:t>не увеличивает счетчик ссылок</a:t>
            </a:r>
            <a:endParaRPr lang="en-US" dirty="0"/>
          </a:p>
          <a:p>
            <a:r>
              <a:rPr lang="ru-RU" dirty="0"/>
              <a:t>может вернуть пустой указатель</a:t>
            </a:r>
          </a:p>
        </p:txBody>
      </p:sp>
    </p:spTree>
    <p:extLst>
      <p:ext uri="{BB962C8B-B14F-4D97-AF65-F5344CB8AC3E}">
        <p14:creationId xmlns:p14="http://schemas.microsoft.com/office/powerpoint/2010/main" val="1727618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89D8-E07E-0EF0-5322-915DC9A3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7929CE-E7ED-FABA-1148-A71DFEC97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9125B53-6CBE-1E8F-E93B-4F130123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2244"/>
            <a:ext cx="94996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21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DFA1-311D-55C8-2434-FEC1A7ED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DB69-22CA-A897-A82B-06909B7B5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6E0E5-FBFD-18C9-5769-65FFBB6A1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494"/>
            <a:ext cx="37973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3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DE04-4C40-1330-549B-0FC2D9ED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E682B-DB0E-8680-4E86-30D75449D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A7F38-9A37-41D8-DBB6-022E9249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35687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4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B78F-F515-E9E7-6E38-F8CB5209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AF4C-C1BA-76E7-6E13-D73E7382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892F-0E06-EA22-B741-86DDEAFA1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D860B-E875-9AC0-9045-DE49DE590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294"/>
            <a:ext cx="36322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90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09E9-EE06-88E0-9427-1641AFE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ED40-A39A-650B-9AAF-3DCE2740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&amp;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1134-9EA3-7426-88A6-AD4D2BFE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F628F-480B-3937-50DA-50C56AD3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6273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1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3082-A10B-CB41-C596-BD6B2F0D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3B0B-9260-58F0-DD0E-D82C0767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24065-600C-C385-C3A4-91592089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A89CD-3357-D631-D8F7-6E2B8435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9032"/>
            <a:ext cx="7772400" cy="142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66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F0C2-74FF-A384-9A17-31A5B9CC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B54-06FB-7433-8FAF-2E566DBD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range-for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0690-0630-A0C6-8128-60B0ACCA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9E785-8BB3-5FEE-54AA-53A3F1CD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7926"/>
            <a:ext cx="7772400" cy="228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6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4677-561E-EEFC-68D3-E12CB399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A8D8-3C4C-655B-77A2-35FA178A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B239-984E-4B0E-3042-5B35D1206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7D4BA-1DE2-DF73-0205-7E8DB097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6994"/>
            <a:ext cx="49276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69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2DC4-E640-4A6B-25F0-287CAFFC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CACF-67EE-970F-D6B2-A0D08270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3994-EAB4-E089-474E-76080B0A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8F947-11C6-9B5D-2EF0-2538C4AE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4660"/>
            <a:ext cx="7772400" cy="429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56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9DE-BFFB-AFCA-4085-21341F29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5849-7571-B825-5385-2F89B182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noexcept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31A3-AAFE-06D3-50BD-AE0BBBEF3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59542-DC0A-D6FD-30E3-DEA06208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54864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5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2E5B-0C5B-1E3E-DC59-9819A1E2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BA32-3A03-86F4-2E81-501A2A1A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static_assert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EB71-E9DF-93C8-C16A-2C6E7582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621DC-1818-7FF5-65A0-8ABA0CAC4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7700"/>
            <a:ext cx="72009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02BA-1C48-F62D-84BF-9B547C40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7704-7EBB-947D-4411-7FADF210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static_assert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37DDE-089A-C8E9-484E-0E1722DF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A9DF8-8812-C063-585A-689044B0F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9794"/>
            <a:ext cx="60071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10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9255-3F58-2E00-2F4F-85E49A91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1E53-42C7-2978-AEF7-9EE485C9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A238-287E-09CA-391D-B3785A97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E41D4-B863-E817-877C-42CCFA9D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5475"/>
            <a:ext cx="38862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6172-ABCE-1E6B-1E4C-15EF3135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9E0F-77CD-0540-F4BA-FC0AD12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4CC8-1D53-5CA6-22BB-7E005F86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7F887-AC8B-5DDD-7722-CFB6A95AF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5475"/>
            <a:ext cx="41021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1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00B4-2511-9189-6AAD-46685A46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7A80-EA02-3971-ACB3-895B5C84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0522-925A-F2D2-AF2B-C808325FF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6C7F7-5AF0-77CC-D6C9-593DABA7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4671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94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7575-FEE3-CBBB-1E1F-7EC84A72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CED5-D398-CEE4-72D4-F3863E6A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0E94-8E82-166D-5EA3-F51C18BB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57420-F78A-091B-FD06-A47AAB0B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4671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82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DDAB-4B09-47B5-8577-CF44E9C6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F452-1F06-3A28-9614-1363BA9B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7F7B-F5FD-D452-8B8D-936FD1158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84BB9-15A6-FAA8-4930-B9CFF753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59436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70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887A-6663-DA57-8ABD-EC187934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FFD8-1E8D-5BB2-CDBC-FC61427A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4DE17-418D-905F-DA2E-DB0809A98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Если тип аргумента в фигурных скобках отличается от типа,</a:t>
            </a:r>
            <a:r>
              <a:rPr lang="en-US" dirty="0"/>
              <a:t> </a:t>
            </a:r>
            <a:r>
              <a:rPr lang="ru-RU" dirty="0"/>
              <a:t>ожидаемого конструктором (т.е. если требуется преобразование типов)</a:t>
            </a:r>
          </a:p>
          <a:p>
            <a:pPr marL="0" indent="0">
              <a:buNone/>
            </a:pPr>
            <a:r>
              <a:rPr lang="ru-RU" b="1" dirty="0"/>
              <a:t>Запрещены</a:t>
            </a:r>
            <a:r>
              <a:rPr lang="ru-RU" dirty="0"/>
              <a:t> неявные преобразования: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число с плавающей точкой к целочисленному типу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long double → double → float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 целого (или </a:t>
            </a:r>
            <a:r>
              <a:rPr lang="en-US" dirty="0" err="1"/>
              <a:t>enum</a:t>
            </a:r>
            <a:r>
              <a:rPr lang="en-US" dirty="0"/>
              <a:t>) </a:t>
            </a:r>
            <a:r>
              <a:rPr lang="ru-RU" dirty="0"/>
              <a:t>к числу с плавающей точкой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long long → long → int → short → char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целые или </a:t>
            </a:r>
            <a:r>
              <a:rPr lang="en-US" dirty="0" err="1"/>
              <a:t>enum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Исключение: константа умещается в “суженный” тип</a:t>
            </a:r>
          </a:p>
        </p:txBody>
      </p:sp>
    </p:spTree>
    <p:extLst>
      <p:ext uri="{BB962C8B-B14F-4D97-AF65-F5344CB8AC3E}">
        <p14:creationId xmlns:p14="http://schemas.microsoft.com/office/powerpoint/2010/main" val="182970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B689-3F2D-1A10-D705-895F122F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DF23-7638-30EC-1593-2FC3DB59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C013-E199-76BB-32AA-D4185BAF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9FC0E-01FB-E0C8-6650-A09FE860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37973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86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8C60-2F17-D390-CC97-112A057F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17A0-9554-CE4B-A1FC-D8ED1E31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{}-</a:t>
            </a:r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966C8-CC38-5427-9E2C-F33D9825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8F8A0-98A1-B6C8-0070-57600889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694"/>
            <a:ext cx="5207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91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152A-F045-E919-5BD9-606279F0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F6B-7222-F43C-7A0B-52CAB7DE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DB44-2642-786B-40BF-87E6B015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5E77B-A181-FBFB-C19D-0BB5725A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715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00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5750-7534-40AC-0271-890780A19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2D34-3846-74E9-71B3-803B7F02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50E12-9BC3-C1F2-3FDF-A89212C5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F216D-0E67-AFE4-EAE4-EBF337CE4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5959"/>
            <a:ext cx="2921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62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12E1-A771-A00D-E96A-563EBAA1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2964-04D3-D0EB-AF46-0495E602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initializer_list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D3D1-DFA8-3832-EF6A-2E34D0706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35246-D2AD-3E03-1A4B-A6BD50C32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50927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5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36B3-3CE0-67F2-4716-C2F817CC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C898-EB32-EB4A-6E75-762C773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инициализации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EB7F-2C59-E491-1ED1-8D3EBF5F0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F1D5B-6492-122D-F578-E4D4E447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7833"/>
            <a:ext cx="7772400" cy="34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10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A47F-5986-971D-9D49-B8084F82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5E1B-212B-590D-E11E-FAE2AE37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инициализации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1A88-998B-8F36-B7EB-D80B4C28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A3EBD-3D0B-2BCC-EF9B-862CCF423F94}"/>
              </a:ext>
            </a:extLst>
          </p:cNvPr>
          <p:cNvSpPr txBox="1"/>
          <p:nvPr/>
        </p:nvSpPr>
        <p:spPr>
          <a:xfrm>
            <a:off x="1366344" y="5810624"/>
            <a:ext cx="382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1 2 4 3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322D4C-30D3-7224-A818-CFA20CE3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7833"/>
            <a:ext cx="7772400" cy="342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2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11038</TotalTime>
  <Words>895</Words>
  <Application>Microsoft Macintosh PowerPoint</Application>
  <PresentationFormat>Widescreen</PresentationFormat>
  <Paragraphs>163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Consolas</vt:lpstr>
      <vt:lpstr>System Font Regular</vt:lpstr>
      <vt:lpstr>Office Theme</vt:lpstr>
      <vt:lpstr>Проектирование больших систем на С++</vt:lpstr>
      <vt:lpstr>Управление памятью</vt:lpstr>
      <vt:lpstr>Управление памятью</vt:lpstr>
      <vt:lpstr>Управление памятью</vt:lpstr>
      <vt:lpstr>Управление памятью</vt:lpstr>
      <vt:lpstr>Управление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Управления памятью</vt:lpstr>
      <vt:lpstr>Управление ресурсами</vt:lpstr>
      <vt:lpstr>Управление ресурсами: RAII</vt:lpstr>
      <vt:lpstr>Управление ресурсами: RAII</vt:lpstr>
      <vt:lpstr>Управление ресурсами: RAII</vt:lpstr>
      <vt:lpstr>Управление ресурсами: умные указатели</vt:lpstr>
      <vt:lpstr>Управление ресурсами: умные указатели</vt:lpstr>
      <vt:lpstr>Управление ресурсами: умные указатели</vt:lpstr>
      <vt:lpstr>using</vt:lpstr>
      <vt:lpstr>using</vt:lpstr>
      <vt:lpstr>final</vt:lpstr>
      <vt:lpstr>override</vt:lpstr>
      <vt:lpstr>default &amp; delete</vt:lpstr>
      <vt:lpstr>auto</vt:lpstr>
      <vt:lpstr>range-for</vt:lpstr>
      <vt:lpstr>constexpr</vt:lpstr>
      <vt:lpstr>constexpr</vt:lpstr>
      <vt:lpstr>noexcept</vt:lpstr>
      <vt:lpstr>static_assert</vt:lpstr>
      <vt:lpstr>static_assert</vt:lpstr>
      <vt:lpstr>enum class</vt:lpstr>
      <vt:lpstr>enum class</vt:lpstr>
      <vt:lpstr>nullptr</vt:lpstr>
      <vt:lpstr>nullptr</vt:lpstr>
      <vt:lpstr>{}-инициализация</vt:lpstr>
      <vt:lpstr>{}-инициализация</vt:lpstr>
      <vt:lpstr>{}-инициализация</vt:lpstr>
      <vt:lpstr>{}-инициализация</vt:lpstr>
      <vt:lpstr>initializer_list</vt:lpstr>
      <vt:lpstr>initializer_list</vt:lpstr>
      <vt:lpstr>initializer_list</vt:lpstr>
      <vt:lpstr>Порядок инициализации</vt:lpstr>
      <vt:lpstr>Порядок инициализации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81</cp:revision>
  <dcterms:created xsi:type="dcterms:W3CDTF">2026-01-06T17:52:33Z</dcterms:created>
  <dcterms:modified xsi:type="dcterms:W3CDTF">2026-01-14T10:04:06Z</dcterms:modified>
</cp:coreProperties>
</file>